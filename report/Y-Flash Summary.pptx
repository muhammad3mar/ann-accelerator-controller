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77" r:id="rId7"/>
    <p:sldId id="261" r:id="rId8"/>
    <p:sldId id="262" r:id="rId9"/>
    <p:sldId id="263" r:id="rId10"/>
    <p:sldId id="258" r:id="rId11"/>
    <p:sldId id="259" r:id="rId12"/>
    <p:sldId id="260" r:id="rId13"/>
    <p:sldId id="278" r:id="rId14"/>
    <p:sldId id="279" r:id="rId15"/>
    <p:sldId id="280" r:id="rId16"/>
    <p:sldId id="281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TaEnAM40WvhxgDNrw0pwAE1N6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Two transistors; Read Transistor and Injection Transistor </a:t>
            </a:r>
          </a:p>
          <a:p>
            <a:pPr marL="0" indent="0">
              <a:buNone/>
            </a:pPr>
            <a:r>
              <a:rPr lang="en-US"/>
              <a:t>Read transistor is longer (0.6um) and a lower threshold voltage </a:t>
            </a:r>
          </a:p>
          <a:p>
            <a:pPr marL="0" indent="0">
              <a:buNone/>
            </a:pPr>
            <a:r>
              <a:rPr lang="en-US"/>
              <a:t>Injection transistor is shorter (0.3um) to enhance hot carrier injection </a:t>
            </a:r>
          </a:p>
          <a:p>
            <a:pPr marL="0" indent="0">
              <a:buNone/>
            </a:pPr>
            <a:r>
              <a:rPr lang="en-US"/>
              <a:t>Capacitance of D is larger than cap of SR and cap of SI --&gt; more coupling of FG to D</a:t>
            </a: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(a), (b) ==&gt; Read </a:t>
            </a:r>
            <a:r>
              <a:rPr lang="en-US" err="1"/>
              <a:t>opration</a:t>
            </a:r>
            <a:r>
              <a:rPr lang="en-US"/>
              <a:t> --&gt; Apply voltage at FG </a:t>
            </a:r>
          </a:p>
          <a:p>
            <a:pPr marL="0" indent="0">
              <a:buNone/>
            </a:pPr>
            <a:r>
              <a:rPr lang="en-US"/>
              <a:t>(c), (d) ==&gt; Program Operation ==&gt; Charge Hot Electron Injection (CHEI) into the oxide ==&gt; changes threshold voltage </a:t>
            </a:r>
          </a:p>
          <a:p>
            <a:pPr marL="0" indent="0">
              <a:buNone/>
            </a:pPr>
            <a:r>
              <a:rPr lang="en-US"/>
              <a:t>(e), (f) ==&gt; Erase Operation ==&gt; holes generated by band-to-band tunneling, accelerated in channel, injected into FG by Channel Hot Hole Injection(CHHI)</a:t>
            </a: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7589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a6df96e53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13a6df96e53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3a6df96e5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g13a6df96e5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a6df96e53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g13a6df96e53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a6df96e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g13a6df96e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a6df96e5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13a6df96e5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a6df96e5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g13a6df96e5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a6df96e5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Binary input</a:t>
            </a:r>
            <a:endParaRPr/>
          </a:p>
        </p:txBody>
      </p:sp>
      <p:sp>
        <p:nvSpPr>
          <p:cNvPr id="120" name="Google Shape;120;g13a6df96e5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8004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a6df96e5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Binary input</a:t>
            </a:r>
            <a:endParaRPr/>
          </a:p>
        </p:txBody>
      </p:sp>
      <p:sp>
        <p:nvSpPr>
          <p:cNvPr id="120" name="Google Shape;120;g13a6df96e5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442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a6df96e5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/>
              <a:t>Due to the non-ohmic I–V </a:t>
            </a:r>
            <a:r>
              <a:rPr lang="en-US" err="1"/>
              <a:t>behaviour</a:t>
            </a:r>
            <a:r>
              <a:rPr lang="en-US"/>
              <a:t> of the device, only binary input vectors are viable for the VMM operations, which meets the requirement of </a:t>
            </a:r>
            <a:r>
              <a:rPr lang="en-US" err="1"/>
              <a:t>memristive</a:t>
            </a:r>
            <a:r>
              <a:rPr lang="en-US"/>
              <a:t> RBMs and DBNs.</a:t>
            </a:r>
          </a:p>
        </p:txBody>
      </p:sp>
      <p:sp>
        <p:nvSpPr>
          <p:cNvPr id="120" name="Google Shape;120;g13a6df96e5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8352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a6df96e5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g13a6df96e5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615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a6df96e53_2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3" name="Google Shape;343;g13a6df96e53_2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58000"/>
            <a:ext cx="3793886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5" name="Google Shape;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0" y="5851961"/>
            <a:ext cx="2667000" cy="100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7103" y="5958000"/>
            <a:ext cx="454468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6"/>
          <p:cNvSpPr/>
          <p:nvPr/>
        </p:nvSpPr>
        <p:spPr>
          <a:xfrm>
            <a:off x="0" y="0"/>
            <a:ext cx="12192000" cy="3162300"/>
          </a:xfrm>
          <a:prstGeom prst="rect">
            <a:avLst/>
          </a:prstGeom>
          <a:gradFill>
            <a:gsLst>
              <a:gs pos="0">
                <a:srgbClr val="0D2D49"/>
              </a:gs>
              <a:gs pos="50000">
                <a:srgbClr val="13416A"/>
              </a:gs>
              <a:gs pos="100000">
                <a:srgbClr val="174E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gradFill>
            <a:gsLst>
              <a:gs pos="0">
                <a:srgbClr val="0D2D49"/>
              </a:gs>
              <a:gs pos="50000">
                <a:srgbClr val="13416A"/>
              </a:gs>
              <a:gs pos="100000">
                <a:srgbClr val="174E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65725"/>
            <a:ext cx="2497816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9587" y="6265725"/>
            <a:ext cx="157242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565" y="6267800"/>
            <a:ext cx="2980275" cy="59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0" y="3263900"/>
            <a:ext cx="118746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Rishona Daniels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Ilan Lipschutz</a:t>
            </a:r>
            <a:endParaRPr sz="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2024-Aug-4</a:t>
            </a:r>
            <a:endParaRPr/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1524000" y="635000"/>
            <a:ext cx="91440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b="1">
                <a:solidFill>
                  <a:schemeClr val="lt1"/>
                </a:solidFill>
              </a:rPr>
              <a:t>Y-Flash Summary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8" name="Google Shape;8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413" y="3263900"/>
            <a:ext cx="2965174" cy="22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body" idx="4294967295"/>
          </p:nvPr>
        </p:nvSpPr>
        <p:spPr>
          <a:xfrm>
            <a:off x="0" y="5575325"/>
            <a:ext cx="118944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1"/>
              <a:t>L. Danial, E. </a:t>
            </a:r>
            <a:r>
              <a:rPr lang="en-US" sz="1500" b="1" err="1"/>
              <a:t>Pikhay</a:t>
            </a:r>
            <a:r>
              <a:rPr lang="en-US" sz="1500" b="1"/>
              <a:t>, E. Herbelin, N. Wainstein, V. Gupta, N. Wald, Y. </a:t>
            </a:r>
            <a:r>
              <a:rPr lang="en-US" sz="1500" b="1" err="1"/>
              <a:t>Roizin</a:t>
            </a:r>
            <a:r>
              <a:rPr lang="en-US" sz="1500" b="1"/>
              <a:t>, R. Daniel, W. Wang, D. Dutta, B. Hoffer, B. Oved, N. Reichler and S. Kvatinsky</a:t>
            </a:r>
            <a:endParaRPr sz="15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- Introduction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Google Shape;95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749424"/>
                <a:ext cx="8350800" cy="4667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/>
              </a:p>
              <a:p>
                <a:pPr marL="228600" lvl="0" indent="-25527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r>
                  <a:rPr lang="en-US"/>
                  <a:t>Manufactured by TOWER SEMICONDUCTOR</a:t>
                </a:r>
              </a:p>
              <a:p>
                <a:pPr marL="228600" lvl="0" indent="-25527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r>
                  <a:rPr lang="en-US"/>
                  <a:t>Main Research areas:</a:t>
                </a:r>
              </a:p>
              <a:p>
                <a:pPr marL="914400" lvl="1" indent="-4064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r>
                  <a:rPr lang="en-US"/>
                  <a:t>Memristive properties</a:t>
                </a:r>
              </a:p>
              <a:p>
                <a:pPr marL="914400" lvl="1" indent="-4064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r>
                  <a:rPr lang="en-US"/>
                  <a:t>Usages in neuromorphic computing</a:t>
                </a:r>
              </a:p>
              <a:p>
                <a:pPr marL="914400" lvl="1" indent="-4064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endParaRPr lang="en-US"/>
              </a:p>
              <a:p>
                <a:pPr marL="914400" lvl="1" indent="-4064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endParaRPr lang="en-US"/>
              </a:p>
              <a:p>
                <a:pPr marL="914400" lvl="1" indent="-4064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endParaRPr lang="en-US"/>
              </a:p>
              <a:p>
                <a:pPr marL="914400" lvl="1" indent="-4064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endParaRPr lang="en-US"/>
              </a:p>
              <a:p>
                <a:pPr lvl="1" indent="-406400">
                  <a:spcBef>
                    <a:spcPts val="1000"/>
                  </a:spcBef>
                  <a:buSzPts val="2800"/>
                </a:pPr>
                <a:r>
                  <a:rPr lang="en-US"/>
                  <a:t>Chemical structure: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𝑆𝑖</m:t>
                    </m:r>
                  </m:oMath>
                </a14:m>
                <a:r>
                  <a:rPr lang="en-US"/>
                  <a:t> /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𝑆𝑖</m:t>
                    </m:r>
                    <m:sSub>
                      <m:sSubPr>
                        <m:ctrlPr>
                          <a:rPr lang="ar-SA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S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/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𝑆𝑖</m:t>
                    </m:r>
                  </m:oMath>
                </a14:m>
                <a:endParaRPr lang="ar-SA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ar-SA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ar-SA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ar-SA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mc:Choice>
        <mc:Fallback xmlns="">
          <p:sp>
            <p:nvSpPr>
              <p:cNvPr id="95" name="Google Shape;9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749424"/>
                <a:ext cx="8350800" cy="4667559"/>
              </a:xfrm>
              <a:prstGeom prst="rect">
                <a:avLst/>
              </a:prstGeom>
              <a:blipFill>
                <a:blip r:embed="rId3"/>
                <a:stretch>
                  <a:fillRect l="-1534" b="-343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Google Shape;9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026" y="3124321"/>
            <a:ext cx="3391774" cy="1416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r="50000"/>
          <a:stretch/>
        </p:blipFill>
        <p:spPr>
          <a:xfrm>
            <a:off x="1273961" y="4277275"/>
            <a:ext cx="4122326" cy="1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g13a6df96e53_0_93">
            <a:extLst>
              <a:ext uri="{FF2B5EF4-FFF2-40B4-BE49-F238E27FC236}">
                <a16:creationId xmlns:a16="http://schemas.microsoft.com/office/drawing/2014/main" id="{0E67B976-F0FC-4927-6420-DF84E5CC5A6B}"/>
              </a:ext>
            </a:extLst>
          </p:cNvPr>
          <p:cNvPicPr preferRelativeResize="0"/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83820" t="3747" r="5493" b="61329"/>
          <a:stretch/>
        </p:blipFill>
        <p:spPr>
          <a:xfrm>
            <a:off x="5590177" y="3948356"/>
            <a:ext cx="1011646" cy="1967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7;p2">
            <a:extLst>
              <a:ext uri="{FF2B5EF4-FFF2-40B4-BE49-F238E27FC236}">
                <a16:creationId xmlns:a16="http://schemas.microsoft.com/office/drawing/2014/main" id="{AD65A3CB-1849-19E8-BBC9-D74627D92702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58715"/>
          <a:stretch/>
        </p:blipFill>
        <p:spPr>
          <a:xfrm>
            <a:off x="4890053" y="2830664"/>
            <a:ext cx="2090412" cy="104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– Physics</a:t>
            </a: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FD8FE-7D32-E188-6C05-EE5D9DF41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5" y="1943749"/>
            <a:ext cx="10167224" cy="40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5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13a6df96e53_0_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100" y="2871925"/>
            <a:ext cx="4572000" cy="241816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3a6df96e53_0_218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Cell - Operational Modes (Read)</a:t>
            </a:r>
            <a:endParaRPr/>
          </a:p>
        </p:txBody>
      </p:sp>
      <p:sp>
        <p:nvSpPr>
          <p:cNvPr id="141" name="Google Shape;141;g13a6df96e53_0_218"/>
          <p:cNvSpPr txBox="1">
            <a:spLocks noGrp="1"/>
          </p:cNvSpPr>
          <p:nvPr>
            <p:ph type="body" idx="1"/>
          </p:nvPr>
        </p:nvSpPr>
        <p:spPr>
          <a:xfrm>
            <a:off x="152400" y="1695450"/>
            <a:ext cx="58104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Read Mode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Inject N</a:t>
            </a:r>
            <a:r>
              <a:rPr lang="en-US" sz="1250"/>
              <a:t>R</a:t>
            </a:r>
            <a:r>
              <a:rPr lang="en-US"/>
              <a:t> pulses of 1[</a:t>
            </a:r>
            <a:r>
              <a:rPr lang="en-US" err="1"/>
              <a:t>uSec</a:t>
            </a:r>
            <a:r>
              <a:rPr lang="en-US"/>
              <a:t>]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Minimum affect the R</a:t>
            </a:r>
            <a:r>
              <a:rPr lang="en-US" sz="1250"/>
              <a:t>CELL</a:t>
            </a:r>
            <a:r>
              <a:rPr lang="en-US"/>
              <a:t> value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13a6df96e53_0_218"/>
          <p:cNvSpPr txBox="1"/>
          <p:nvPr/>
        </p:nvSpPr>
        <p:spPr>
          <a:xfrm>
            <a:off x="8905875" y="4791075"/>
            <a:ext cx="9336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3a6df96e53_0_218"/>
          <p:cNvSpPr txBox="1"/>
          <p:nvPr/>
        </p:nvSpPr>
        <p:spPr>
          <a:xfrm>
            <a:off x="8934450" y="4657725"/>
            <a:ext cx="93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READ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g13a6df96e53_0_218"/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83820" t="3747" r="5493" b="61329"/>
          <a:stretch/>
        </p:blipFill>
        <p:spPr>
          <a:xfrm>
            <a:off x="5385666" y="1802663"/>
            <a:ext cx="1494436" cy="248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1FCBD9-C954-FA14-0E50-B87BC5637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19" y="3429000"/>
            <a:ext cx="4572000" cy="2524507"/>
          </a:xfrm>
          <a:prstGeom prst="rect">
            <a:avLst/>
          </a:prstGeom>
        </p:spPr>
      </p:pic>
      <p:sp>
        <p:nvSpPr>
          <p:cNvPr id="5" name="Google Shape;153;g13a6df96e53_0_104">
            <a:extLst>
              <a:ext uri="{FF2B5EF4-FFF2-40B4-BE49-F238E27FC236}">
                <a16:creationId xmlns:a16="http://schemas.microsoft.com/office/drawing/2014/main" id="{2DFCCB65-45A3-7280-4C50-11C2DBB0B91E}"/>
              </a:ext>
            </a:extLst>
          </p:cNvPr>
          <p:cNvSpPr/>
          <p:nvPr/>
        </p:nvSpPr>
        <p:spPr>
          <a:xfrm>
            <a:off x="346619" y="4081008"/>
            <a:ext cx="4487774" cy="506895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9762A0-901A-42D1-D7FF-3440C18F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19" y="3429000"/>
            <a:ext cx="4572000" cy="2524507"/>
          </a:xfrm>
          <a:prstGeom prst="rect">
            <a:avLst/>
          </a:prstGeom>
        </p:spPr>
      </p:pic>
      <p:sp>
        <p:nvSpPr>
          <p:cNvPr id="150" name="Google Shape;150;g13a6df96e53_0_104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Cell - Operational Modes (Program)</a:t>
            </a:r>
            <a:endParaRPr/>
          </a:p>
        </p:txBody>
      </p:sp>
      <p:sp>
        <p:nvSpPr>
          <p:cNvPr id="152" name="Google Shape;152;g13a6df96e53_0_104"/>
          <p:cNvSpPr txBox="1">
            <a:spLocks noGrp="1"/>
          </p:cNvSpPr>
          <p:nvPr>
            <p:ph type="body" idx="1"/>
          </p:nvPr>
        </p:nvSpPr>
        <p:spPr>
          <a:xfrm>
            <a:off x="152400" y="1695450"/>
            <a:ext cx="5810400" cy="24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552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Program Mode (RESET)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Inject N</a:t>
            </a:r>
            <a:r>
              <a:rPr lang="en-US" sz="1250"/>
              <a:t>P</a:t>
            </a:r>
            <a:r>
              <a:rPr lang="en-US"/>
              <a:t> pulses of 10[</a:t>
            </a:r>
            <a:r>
              <a:rPr lang="en-US" err="1"/>
              <a:t>uSec</a:t>
            </a:r>
            <a:r>
              <a:rPr lang="en-US"/>
              <a:t>]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</a:t>
            </a:r>
            <a:r>
              <a:rPr lang="en-US" sz="1250"/>
              <a:t>CELL</a:t>
            </a:r>
            <a:r>
              <a:rPr lang="en-US"/>
              <a:t> depends on the number of the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/>
              <a:t>injected program pulses (</a:t>
            </a:r>
            <a:r>
              <a:rPr lang="en-US" sz="2400"/>
              <a:t>N</a:t>
            </a:r>
            <a:r>
              <a:rPr lang="en-US" sz="1250"/>
              <a:t>P</a:t>
            </a:r>
            <a:r>
              <a:rPr lang="en-US" sz="2350"/>
              <a:t>)</a:t>
            </a:r>
            <a:endParaRPr sz="235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</a:t>
            </a:r>
            <a:r>
              <a:rPr lang="en-US" sz="1250"/>
              <a:t>CELL</a:t>
            </a:r>
            <a:r>
              <a:rPr lang="en-US"/>
              <a:t> change is non-linear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13a6df96e53_0_104"/>
          <p:cNvSpPr/>
          <p:nvPr/>
        </p:nvSpPr>
        <p:spPr>
          <a:xfrm>
            <a:off x="350805" y="4524533"/>
            <a:ext cx="4567814" cy="638018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g13a6df96e53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6100" y="2871925"/>
            <a:ext cx="4572000" cy="2418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5;g13a6df96e53_0_218">
            <a:extLst>
              <a:ext uri="{FF2B5EF4-FFF2-40B4-BE49-F238E27FC236}">
                <a16:creationId xmlns:a16="http://schemas.microsoft.com/office/drawing/2014/main" id="{E2F9F3D4-F204-A422-A988-29C6C8C2F41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83820" t="3747" r="5493" b="61329"/>
          <a:stretch/>
        </p:blipFill>
        <p:spPr>
          <a:xfrm>
            <a:off x="5385666" y="1802663"/>
            <a:ext cx="1494436" cy="2485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a6df96e53_0_208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Cell - Operational Modes (Erase)</a:t>
            </a:r>
            <a:endParaRPr/>
          </a:p>
        </p:txBody>
      </p:sp>
      <p:sp>
        <p:nvSpPr>
          <p:cNvPr id="162" name="Google Shape;162;g13a6df96e53_0_208"/>
          <p:cNvSpPr txBox="1">
            <a:spLocks noGrp="1"/>
          </p:cNvSpPr>
          <p:nvPr>
            <p:ph type="body" idx="1"/>
          </p:nvPr>
        </p:nvSpPr>
        <p:spPr>
          <a:xfrm>
            <a:off x="152400" y="1695450"/>
            <a:ext cx="5810400" cy="18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Erase Mode (SET)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Inject N</a:t>
            </a:r>
            <a:r>
              <a:rPr lang="en-US" sz="1250"/>
              <a:t>E</a:t>
            </a:r>
            <a:r>
              <a:rPr lang="en-US"/>
              <a:t> pulses of 10[</a:t>
            </a:r>
            <a:r>
              <a:rPr lang="en-US" err="1"/>
              <a:t>uSec</a:t>
            </a:r>
            <a:r>
              <a:rPr lang="en-US"/>
              <a:t>]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Initialize the R</a:t>
            </a:r>
            <a:r>
              <a:rPr lang="en-US" sz="1250"/>
              <a:t>CELL</a:t>
            </a:r>
            <a:r>
              <a:rPr lang="en-US"/>
              <a:t> value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g13a6df96e53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100" y="2490925"/>
            <a:ext cx="4572000" cy="2819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13a6df96e53_0_208"/>
          <p:cNvSpPr txBox="1"/>
          <p:nvPr/>
        </p:nvSpPr>
        <p:spPr>
          <a:xfrm>
            <a:off x="8924925" y="2103025"/>
            <a:ext cx="933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ERS/SET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13a6df96e53_0_208"/>
          <p:cNvSpPr txBox="1"/>
          <p:nvPr/>
        </p:nvSpPr>
        <p:spPr>
          <a:xfrm>
            <a:off x="11087100" y="4440375"/>
            <a:ext cx="495600" cy="68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3a6df96e53_0_208"/>
          <p:cNvSpPr txBox="1"/>
          <p:nvPr/>
        </p:nvSpPr>
        <p:spPr>
          <a:xfrm>
            <a:off x="11344275" y="4017800"/>
            <a:ext cx="12669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Depletion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region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F4A735-2291-6215-29A9-1D0AECAB1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19" y="3429000"/>
            <a:ext cx="4572000" cy="2524507"/>
          </a:xfrm>
          <a:prstGeom prst="rect">
            <a:avLst/>
          </a:prstGeom>
        </p:spPr>
      </p:pic>
      <p:sp>
        <p:nvSpPr>
          <p:cNvPr id="3" name="Google Shape;153;g13a6df96e53_0_104">
            <a:extLst>
              <a:ext uri="{FF2B5EF4-FFF2-40B4-BE49-F238E27FC236}">
                <a16:creationId xmlns:a16="http://schemas.microsoft.com/office/drawing/2014/main" id="{07A3CBCD-EBF8-9741-15AC-5EF7A475D1EF}"/>
              </a:ext>
            </a:extLst>
          </p:cNvPr>
          <p:cNvSpPr/>
          <p:nvPr/>
        </p:nvSpPr>
        <p:spPr>
          <a:xfrm>
            <a:off x="346619" y="5162550"/>
            <a:ext cx="4572000" cy="696084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145;g13a6df96e53_0_218">
            <a:extLst>
              <a:ext uri="{FF2B5EF4-FFF2-40B4-BE49-F238E27FC236}">
                <a16:creationId xmlns:a16="http://schemas.microsoft.com/office/drawing/2014/main" id="{FC0C4C71-BB77-9AD6-B9C8-390E3F1E619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83820" t="3747" r="5493" b="61329"/>
          <a:stretch/>
        </p:blipFill>
        <p:spPr>
          <a:xfrm>
            <a:off x="5385666" y="1802663"/>
            <a:ext cx="1494436" cy="2485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a6df96e53_0_0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Die - 8x12 Cell Array Package</a:t>
            </a:r>
            <a:endParaRPr/>
          </a:p>
        </p:txBody>
      </p:sp>
      <p:pic>
        <p:nvPicPr>
          <p:cNvPr id="103" name="Google Shape;103;g13a6df96e5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0271" y="1855725"/>
            <a:ext cx="4301000" cy="423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13a6df96e53_0_0"/>
          <p:cNvPicPr preferRelativeResize="0"/>
          <p:nvPr/>
        </p:nvPicPr>
        <p:blipFill rotWithShape="1">
          <a:blip r:embed="rId4">
            <a:alphaModFix/>
          </a:blip>
          <a:srcRect l="4672" t="16149" r="4061" b="17909"/>
          <a:stretch/>
        </p:blipFill>
        <p:spPr>
          <a:xfrm>
            <a:off x="1038225" y="2240125"/>
            <a:ext cx="3352800" cy="333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13a6df96e53_0_0"/>
          <p:cNvSpPr/>
          <p:nvPr/>
        </p:nvSpPr>
        <p:spPr>
          <a:xfrm>
            <a:off x="876300" y="2200275"/>
            <a:ext cx="5486400" cy="34578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13a6df96e53_0_0"/>
          <p:cNvSpPr/>
          <p:nvPr/>
        </p:nvSpPr>
        <p:spPr>
          <a:xfrm>
            <a:off x="6553200" y="1733550"/>
            <a:ext cx="4543500" cy="4486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13a6df96e53_0_0"/>
          <p:cNvSpPr/>
          <p:nvPr/>
        </p:nvSpPr>
        <p:spPr>
          <a:xfrm>
            <a:off x="2514600" y="3771900"/>
            <a:ext cx="200100" cy="2571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13a6df96e53_0_0"/>
          <p:cNvSpPr/>
          <p:nvPr/>
        </p:nvSpPr>
        <p:spPr>
          <a:xfrm>
            <a:off x="8429625" y="3362325"/>
            <a:ext cx="742800" cy="8193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a6df96e53_0_80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Die - 8x12 Cell Array Package</a:t>
            </a:r>
            <a:endParaRPr/>
          </a:p>
        </p:txBody>
      </p:sp>
      <p:pic>
        <p:nvPicPr>
          <p:cNvPr id="114" name="Google Shape;114;g13a6df96e53_0_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271" y="1855725"/>
            <a:ext cx="4301000" cy="423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13a6df96e53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2487" y="1779525"/>
            <a:ext cx="3028064" cy="438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13a6df96e53_0_80"/>
          <p:cNvSpPr/>
          <p:nvPr/>
        </p:nvSpPr>
        <p:spPr>
          <a:xfrm>
            <a:off x="2752725" y="3362325"/>
            <a:ext cx="3838500" cy="8193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17122"/>
            </a:avLst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13a6df96e53_0_80"/>
          <p:cNvSpPr/>
          <p:nvPr/>
        </p:nvSpPr>
        <p:spPr>
          <a:xfrm>
            <a:off x="6753225" y="1724025"/>
            <a:ext cx="3181500" cy="45243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a6df96e53_0_93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Die - 8x12 Cell Array Package</a:t>
            </a:r>
            <a:endParaRPr/>
          </a:p>
        </p:txBody>
      </p:sp>
      <p:pic>
        <p:nvPicPr>
          <p:cNvPr id="123" name="Google Shape;123;g13a6df96e53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292" y="1779525"/>
            <a:ext cx="3028064" cy="438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13a6df96e53_0_93"/>
          <p:cNvSpPr/>
          <p:nvPr/>
        </p:nvSpPr>
        <p:spPr>
          <a:xfrm>
            <a:off x="2903830" y="3524250"/>
            <a:ext cx="3200700" cy="314400"/>
          </a:xfrm>
          <a:prstGeom prst="rightArrowCallout">
            <a:avLst>
              <a:gd name="adj1" fmla="val 0"/>
              <a:gd name="adj2" fmla="val 25000"/>
              <a:gd name="adj3" fmla="val 25000"/>
              <a:gd name="adj4" fmla="val 7737"/>
            </a:avLst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13a6df96e53_0_93"/>
          <p:cNvSpPr/>
          <p:nvPr/>
        </p:nvSpPr>
        <p:spPr>
          <a:xfrm>
            <a:off x="5342230" y="1855725"/>
            <a:ext cx="3200700" cy="37356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g13a6df96e53_0_93"/>
          <p:cNvPicPr preferRelativeResize="0"/>
          <p:nvPr/>
        </p:nvPicPr>
        <p:blipFill rotWithShape="1">
          <a:blip r:embed="rId3">
            <a:alphaModFix/>
          </a:blip>
          <a:srcRect l="78253" t="2721" r="14147" b="84542"/>
          <a:stretch/>
        </p:blipFill>
        <p:spPr>
          <a:xfrm>
            <a:off x="6218530" y="2562225"/>
            <a:ext cx="1190624" cy="28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13a6df96e53_0_93"/>
          <p:cNvSpPr txBox="1"/>
          <p:nvPr/>
        </p:nvSpPr>
        <p:spPr>
          <a:xfrm>
            <a:off x="6428380" y="1855725"/>
            <a:ext cx="87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Drain (D)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a6df96e53_0_93"/>
          <p:cNvSpPr txBox="1"/>
          <p:nvPr/>
        </p:nvSpPr>
        <p:spPr>
          <a:xfrm>
            <a:off x="7675855" y="3905250"/>
            <a:ext cx="876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Source Injection (SI)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13a6df96e53_0_93"/>
          <p:cNvSpPr txBox="1"/>
          <p:nvPr/>
        </p:nvSpPr>
        <p:spPr>
          <a:xfrm>
            <a:off x="5389855" y="4467050"/>
            <a:ext cx="781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Source Read (SR)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13a6df96e53_0_93"/>
          <p:cNvCxnSpPr/>
          <p:nvPr/>
        </p:nvCxnSpPr>
        <p:spPr>
          <a:xfrm>
            <a:off x="7475830" y="4743450"/>
            <a:ext cx="60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31" name="Google Shape;131;g13a6df96e53_0_93"/>
          <p:cNvCxnSpPr/>
          <p:nvPr/>
        </p:nvCxnSpPr>
        <p:spPr>
          <a:xfrm rot="10800000">
            <a:off x="6361255" y="1943175"/>
            <a:ext cx="19200" cy="561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32" name="Google Shape;132;g13a6df96e53_0_93"/>
          <p:cNvCxnSpPr/>
          <p:nvPr/>
        </p:nvCxnSpPr>
        <p:spPr>
          <a:xfrm rot="10800000">
            <a:off x="5513971" y="5324459"/>
            <a:ext cx="609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133" name="Google Shape;133;g13a6df96e53_0_93"/>
          <p:cNvPicPr preferRelativeResize="0"/>
          <p:nvPr/>
        </p:nvPicPr>
        <p:blipFill rotWithShape="1">
          <a:blip r:embed="rId4">
            <a:alphaModFix/>
          </a:blip>
          <a:srcRect l="83820" t="3747" r="5493" b="61329"/>
          <a:stretch/>
        </p:blipFill>
        <p:spPr>
          <a:xfrm>
            <a:off x="9151125" y="2259175"/>
            <a:ext cx="1669275" cy="27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a6df96e53_0_93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– Applications (Hopfield Network)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78FBD3-8024-1B96-6CBF-ACC0F284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32" y="1710297"/>
            <a:ext cx="10564699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6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a6df96e53_0_93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– Applications (ANN)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E80014-4939-A5CB-309D-4E27F0E85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450" y="1795852"/>
            <a:ext cx="5010506" cy="449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6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a6df96e53_0_93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– Applications (DBN)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0ECE21-734E-2D13-37BA-62BDDDCC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3857"/>
            <a:ext cx="7441791" cy="44934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3672E-92FF-3486-877A-8C7E94B28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791" y="1874486"/>
            <a:ext cx="4464690" cy="386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40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a6df96e53_0_93"/>
          <p:cNvSpPr txBox="1">
            <a:spLocks noGrp="1"/>
          </p:cNvSpPr>
          <p:nvPr>
            <p:ph type="title"/>
          </p:nvPr>
        </p:nvSpPr>
        <p:spPr>
          <a:xfrm>
            <a:off x="838200" y="174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Y-Flash – References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12562-6B2B-C29B-2DC6-8C17F966F028}"/>
              </a:ext>
            </a:extLst>
          </p:cNvPr>
          <p:cNvSpPr txBox="1"/>
          <p:nvPr/>
        </p:nvSpPr>
        <p:spPr>
          <a:xfrm>
            <a:off x="729789" y="2311855"/>
            <a:ext cx="10732422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 rtl="0" fontAlgn="base">
              <a:buFont typeface="+mj-lt"/>
              <a:buAutoNum type="arabicParenR"/>
            </a:pP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Wang, W., </a:t>
            </a:r>
            <a:r>
              <a:rPr lang="en-US" sz="2000" b="0" i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et al.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 A </a:t>
            </a:r>
            <a:r>
              <a:rPr lang="en-US" sz="2000" b="0" i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memristive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 deep belief neural network based on silicon synapses. </a:t>
            </a:r>
            <a:r>
              <a:rPr lang="en-US" sz="2000" b="0" i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Nat Electron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 </a:t>
            </a:r>
            <a:r>
              <a:rPr lang="en-US" sz="2000" b="1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5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, 870–880 (2022). </a:t>
            </a:r>
          </a:p>
          <a:p>
            <a:pPr marL="457200" indent="-457200" algn="just" rtl="0" fontAlgn="base">
              <a:buFont typeface="+mj-lt"/>
              <a:buAutoNum type="arabicParenR"/>
            </a:pPr>
            <a:endParaRPr lang="en-US" sz="2000" b="0" i="0">
              <a:solidFill>
                <a:srgbClr val="222222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457200" indent="-457200" algn="just" fontAlgn="base">
              <a:buFont typeface="+mj-lt"/>
              <a:buAutoNum type="arabicParenR"/>
            </a:pP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Danial,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+mn-lt"/>
              </a:rPr>
              <a:t> L., </a:t>
            </a:r>
            <a:r>
              <a:rPr lang="en-US" sz="2000" i="1">
                <a:solidFill>
                  <a:srgbClr val="222222"/>
                </a:solidFill>
                <a:highlight>
                  <a:srgbClr val="FFFFFF"/>
                </a:highlight>
                <a:latin typeface="+mn-lt"/>
              </a:rPr>
              <a:t>et al.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 Two-terminal floating-gate transistors with a low-power </a:t>
            </a:r>
            <a:r>
              <a:rPr lang="en-US" sz="2000" b="0" i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memristive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 operation mode for analogue neuromorphic computing. </a:t>
            </a:r>
            <a:r>
              <a:rPr lang="en-US" sz="2000" b="0" i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Nat Electron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 </a:t>
            </a:r>
            <a:r>
              <a:rPr lang="en-US" sz="2000" b="1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2</a:t>
            </a:r>
            <a:r>
              <a:rPr lang="en-US" sz="20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+mn-lt"/>
              </a:rPr>
              <a:t>, 596–605 (2019).</a:t>
            </a:r>
            <a:endParaRPr lang="en-US" sz="2000">
              <a:highlight>
                <a:srgbClr val="FFFFFF"/>
              </a:highlight>
              <a:latin typeface="+mn-lt"/>
            </a:endParaRPr>
          </a:p>
          <a:p>
            <a:pPr marL="457200" indent="-457200" algn="just" rtl="0" fontAlgn="base">
              <a:buFont typeface="+mj-lt"/>
              <a:buAutoNum type="arabicParenR"/>
            </a:pPr>
            <a:endParaRPr lang="en-US" sz="2000">
              <a:solidFill>
                <a:srgbClr val="222222"/>
              </a:solidFill>
              <a:highlight>
                <a:srgbClr val="FFFFFF"/>
              </a:highlight>
              <a:latin typeface="+mn-lt"/>
            </a:endParaRPr>
          </a:p>
          <a:p>
            <a:pPr marL="457200" indent="-457200" algn="just" fontAlgn="base">
              <a:buAutoNum type="arabicParenR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+mn-lt"/>
              </a:rPr>
              <a:t>Wang, W., </a:t>
            </a:r>
            <a:r>
              <a:rPr lang="en-US" sz="2000" i="1">
                <a:solidFill>
                  <a:srgbClr val="222222"/>
                </a:solidFill>
                <a:highlight>
                  <a:srgbClr val="FFFFFF"/>
                </a:highlight>
                <a:latin typeface="+mn-lt"/>
              </a:rPr>
              <a:t>et al.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+mn-lt"/>
              </a:rPr>
              <a:t> Physical based compact model of Y-Flash memristor for neuromorphic computation. Appl. Phys. Lett. 27 December 2021; 119 (26): 263504.</a:t>
            </a:r>
          </a:p>
        </p:txBody>
      </p:sp>
    </p:spTree>
    <p:extLst>
      <p:ext uri="{BB962C8B-B14F-4D97-AF65-F5344CB8AC3E}">
        <p14:creationId xmlns:p14="http://schemas.microsoft.com/office/powerpoint/2010/main" val="2182531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3a6df96e53_2_271"/>
          <p:cNvSpPr txBox="1">
            <a:spLocks noGrp="1"/>
          </p:cNvSpPr>
          <p:nvPr>
            <p:ph type="ctrTitle"/>
          </p:nvPr>
        </p:nvSpPr>
        <p:spPr>
          <a:xfrm>
            <a:off x="1524000" y="635000"/>
            <a:ext cx="9144000" cy="1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F1B3491505B544ABCF4DBFD995A328" ma:contentTypeVersion="13" ma:contentTypeDescription="Create a new document." ma:contentTypeScope="" ma:versionID="90faa2983c932f029bf7bebc9e6d0d9e">
  <xsd:schema xmlns:xsd="http://www.w3.org/2001/XMLSchema" xmlns:xs="http://www.w3.org/2001/XMLSchema" xmlns:p="http://schemas.microsoft.com/office/2006/metadata/properties" xmlns:ns2="c2ce6744-4b49-4235-bf64-039aa398445e" xmlns:ns3="61dcf3c9-eb15-454e-81ca-9882d19829ae" targetNamespace="http://schemas.microsoft.com/office/2006/metadata/properties" ma:root="true" ma:fieldsID="882e4c3344d42d866d8ac3d7f1ad1ed8" ns2:_="" ns3:_="">
    <xsd:import namespace="c2ce6744-4b49-4235-bf64-039aa398445e"/>
    <xsd:import namespace="61dcf3c9-eb15-454e-81ca-9882d19829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ce6744-4b49-4235-bf64-039aa39844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3933a40-d7a1-4ae8-94a3-1b6c5b7c39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cf3c9-eb15-454e-81ca-9882d19829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ae93f37-7ef2-4de8-a45f-21fc26b842fa}" ma:internalName="TaxCatchAll" ma:showField="CatchAllData" ma:web="61dcf3c9-eb15-454e-81ca-9882d19829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dcf3c9-eb15-454e-81ca-9882d19829ae" xsi:nil="true"/>
    <lcf76f155ced4ddcb4097134ff3c332f xmlns="c2ce6744-4b49-4235-bf64-039aa39844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3CB0510-28F4-44CF-A017-8759D40211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ce6744-4b49-4235-bf64-039aa398445e"/>
    <ds:schemaRef ds:uri="61dcf3c9-eb15-454e-81ca-9882d19829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587F06-5823-47CB-9FB0-D61C74E663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B124CC-2283-4B8C-A25D-45A1D9698720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c2ce6744-4b49-4235-bf64-039aa398445e"/>
    <ds:schemaRef ds:uri="http://schemas.microsoft.com/office/2006/metadata/properties"/>
    <ds:schemaRef ds:uri="61dcf3c9-eb15-454e-81ca-9882d19829ae"/>
    <ds:schemaRef ds:uri="http://www.w3.org/XML/1998/namespace"/>
    <ds:schemaRef ds:uri="http://purl.org/dc/term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Y-Flash Summary</vt:lpstr>
      <vt:lpstr>Y-Flash - Introduction</vt:lpstr>
      <vt:lpstr>Y-Flash – Physics</vt:lpstr>
      <vt:lpstr>Y-Flash Cell - Operational Modes (Read)</vt:lpstr>
      <vt:lpstr>Y-Flash Cell - Operational Modes (Program)</vt:lpstr>
      <vt:lpstr>Y-Flash Cell - Operational Modes (Erase)</vt:lpstr>
      <vt:lpstr>Y-Flash Die - 8x12 Cell Array Package</vt:lpstr>
      <vt:lpstr>Y-Flash Die - 8x12 Cell Array Package</vt:lpstr>
      <vt:lpstr>Y-Flash Die - 8x12 Cell Array Package</vt:lpstr>
      <vt:lpstr>Y-Flash – Applications (Hopfield Network)</vt:lpstr>
      <vt:lpstr>Y-Flash – Applications (ANN)</vt:lpstr>
      <vt:lpstr>Y-Flash – Applications (DBN)</vt:lpstr>
      <vt:lpstr>Y-Flash –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Y-Flash Summary</dc:title>
  <dc:creator>Lipschutz Ilan</dc:creator>
  <cp:lastModifiedBy>Dima Alisaleh</cp:lastModifiedBy>
  <cp:revision>3</cp:revision>
  <dcterms:created xsi:type="dcterms:W3CDTF">2022-06-19T11:28:35Z</dcterms:created>
  <dcterms:modified xsi:type="dcterms:W3CDTF">2024-12-30T20:52:12Z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0x01010009F1B3491505B544ABCF4DBFD995A328</vt:lpwstr>
  </property>
  <property fmtid="{D5CDD505-2E9C-101B-9397-08002B2CF9AE}" pid="3" name="MediaServiceImageTags">
    <vt:lpwstr/>
  </property>
</Properties>
</file>